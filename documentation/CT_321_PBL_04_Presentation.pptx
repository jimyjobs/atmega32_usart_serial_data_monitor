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79" r:id="rId9"/>
    <p:sldId id="265" r:id="rId10"/>
    <p:sldId id="266" r:id="rId11"/>
    <p:sldId id="267" r:id="rId12"/>
    <p:sldId id="276" r:id="rId13"/>
    <p:sldId id="269" r:id="rId14"/>
    <p:sldId id="278" r:id="rId15"/>
    <p:sldId id="277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8358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22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65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8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12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62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546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73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7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1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4800" dirty="0"/>
              <a:t>ATmega32 USART Serial Data Monitoring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  <a:defRPr sz="2200"/>
            </a:pPr>
            <a:r>
              <a:rPr lang="en-US" sz="2800" dirty="0"/>
              <a:t>The USART-Based Serial Data Monitoring System is an embedded system developed using the ATmega32 microcontroller to demonstrate reliable serial communication with a computer.</a:t>
            </a:r>
          </a:p>
          <a:p>
            <a:pPr marL="0" indent="0">
              <a:buNone/>
              <a:defRPr sz="2200"/>
            </a:pPr>
            <a:r>
              <a:rPr lang="en-US" sz="2800" dirty="0"/>
              <a:t>The system monitors three push button switches, transmits their status through USART, receives commands from a serial terminal, and controls LEDs to indicate system operation.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sz="2800" dirty="0"/>
              <a:t>• Configure USART</a:t>
            </a:r>
          </a:p>
          <a:p>
            <a:pPr marL="0" indent="0">
              <a:buNone/>
              <a:defRPr sz="2200"/>
            </a:pPr>
            <a:r>
              <a:rPr sz="2800" dirty="0"/>
              <a:t>• Monitor switches</a:t>
            </a:r>
          </a:p>
          <a:p>
            <a:pPr marL="0" indent="0">
              <a:buNone/>
              <a:defRPr sz="2200"/>
            </a:pPr>
            <a:r>
              <a:rPr sz="2800" dirty="0"/>
              <a:t>• Receive commands</a:t>
            </a:r>
          </a:p>
          <a:p>
            <a:pPr marL="0" indent="0">
              <a:buNone/>
              <a:defRPr sz="2200"/>
            </a:pPr>
            <a:r>
              <a:rPr sz="2800" dirty="0"/>
              <a:t>• Control LEDs</a:t>
            </a:r>
          </a:p>
          <a:p>
            <a:pPr marL="0" indent="0">
              <a:buNone/>
              <a:defRPr sz="2200"/>
            </a:pPr>
            <a:r>
              <a:rPr sz="2800" dirty="0"/>
              <a:t>• Design PCB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Firmware, </a:t>
            </a:r>
            <a:r>
              <a:rPr sz="2800" dirty="0" err="1"/>
              <a:t>KiCad</a:t>
            </a:r>
            <a:r>
              <a:rPr sz="2800" dirty="0"/>
              <a:t> schematic, PCB, Gerber files, </a:t>
            </a:r>
            <a:r>
              <a:rPr sz="2800" dirty="0" err="1"/>
              <a:t>SimulIDE</a:t>
            </a:r>
            <a:r>
              <a:rPr sz="2800" dirty="0"/>
              <a:t> simulation, documentation and GitHub repository.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200"/>
            </a:pPr>
            <a:r>
              <a:rPr sz="2800" dirty="0"/>
              <a:t>ATmega32</a:t>
            </a:r>
          </a:p>
          <a:p>
            <a:pPr>
              <a:defRPr sz="2200"/>
            </a:pPr>
            <a:r>
              <a:rPr sz="2800" dirty="0"/>
              <a:t>3 Push Buttons</a:t>
            </a:r>
          </a:p>
          <a:p>
            <a:pPr>
              <a:defRPr sz="2200"/>
            </a:pPr>
            <a:r>
              <a:rPr sz="2800" dirty="0"/>
              <a:t>2 LEDs</a:t>
            </a:r>
          </a:p>
          <a:p>
            <a:pPr>
              <a:defRPr sz="2200"/>
            </a:pPr>
            <a:r>
              <a:rPr sz="2800" dirty="0"/>
              <a:t>8 MHz Crystal</a:t>
            </a:r>
          </a:p>
          <a:p>
            <a:pPr>
              <a:defRPr sz="2200"/>
            </a:pPr>
            <a:r>
              <a:rPr sz="2800" dirty="0"/>
              <a:t>Capacitors</a:t>
            </a:r>
          </a:p>
          <a:p>
            <a:pPr>
              <a:defRPr sz="2200"/>
            </a:pPr>
            <a:r>
              <a:rPr sz="2800" dirty="0"/>
              <a:t>Resistors</a:t>
            </a:r>
          </a:p>
          <a:p>
            <a:pPr>
              <a:defRPr sz="2200"/>
            </a:pPr>
            <a:r>
              <a:rPr sz="2800" dirty="0"/>
              <a:t>USB-Serial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ATmega32 Pin Mapping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6A6590-4313-EA0F-AF00-3146A8FF28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286198"/>
              </p:ext>
            </p:extLst>
          </p:nvPr>
        </p:nvGraphicFramePr>
        <p:xfrm>
          <a:off x="457200" y="1734207"/>
          <a:ext cx="8229600" cy="4826934"/>
        </p:xfrm>
        <a:graphic>
          <a:graphicData uri="http://schemas.openxmlformats.org/drawingml/2006/table">
            <a:tbl>
              <a:tblPr/>
              <a:tblGrid>
                <a:gridCol w="1424580">
                  <a:extLst>
                    <a:ext uri="{9D8B030D-6E8A-4147-A177-3AD203B41FA5}">
                      <a16:colId xmlns:a16="http://schemas.microsoft.com/office/drawing/2014/main" val="57914203"/>
                    </a:ext>
                  </a:extLst>
                </a:gridCol>
                <a:gridCol w="977191">
                  <a:extLst>
                    <a:ext uri="{9D8B030D-6E8A-4147-A177-3AD203B41FA5}">
                      <a16:colId xmlns:a16="http://schemas.microsoft.com/office/drawing/2014/main" val="1465235275"/>
                    </a:ext>
                  </a:extLst>
                </a:gridCol>
                <a:gridCol w="777044">
                  <a:extLst>
                    <a:ext uri="{9D8B030D-6E8A-4147-A177-3AD203B41FA5}">
                      <a16:colId xmlns:a16="http://schemas.microsoft.com/office/drawing/2014/main" val="63435671"/>
                    </a:ext>
                  </a:extLst>
                </a:gridCol>
                <a:gridCol w="777044">
                  <a:extLst>
                    <a:ext uri="{9D8B030D-6E8A-4147-A177-3AD203B41FA5}">
                      <a16:colId xmlns:a16="http://schemas.microsoft.com/office/drawing/2014/main" val="2460436328"/>
                    </a:ext>
                  </a:extLst>
                </a:gridCol>
                <a:gridCol w="1813102">
                  <a:extLst>
                    <a:ext uri="{9D8B030D-6E8A-4147-A177-3AD203B41FA5}">
                      <a16:colId xmlns:a16="http://schemas.microsoft.com/office/drawing/2014/main" val="1481918552"/>
                    </a:ext>
                  </a:extLst>
                </a:gridCol>
                <a:gridCol w="2460639">
                  <a:extLst>
                    <a:ext uri="{9D8B030D-6E8A-4147-A177-3AD203B41FA5}">
                      <a16:colId xmlns:a16="http://schemas.microsoft.com/office/drawing/2014/main" val="1940119432"/>
                    </a:ext>
                  </a:extLst>
                </a:gridCol>
              </a:tblGrid>
              <a:tr h="3532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Function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ATmega32 Pin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Port Bit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Direction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Connected To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999944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Switch 1 (SW1)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PA0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PORTA.0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Push Button → 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Digital input, active LOW with pull-up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136663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Switch 2 (SW2)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PORTA.1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Push Button → 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Digital input, active LOW with pull-up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495545"/>
                  </a:ext>
                </a:extLst>
              </a:tr>
              <a:tr h="21459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Switch 3 (SW3)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PA2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PORTA.2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Push Button → 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Digital input, active LOW with pull-up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55097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LED Status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PB1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PORTB.1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R1(330Ω) → LED1 → 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when any switch is pressed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6299098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LED Command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PB2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PORTB.2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R2(330Ω) → LED2 → 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ON when valid command received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939321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USART RX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PD0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PORTD.0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USB-Serial TX pin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Receive data from computer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041466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USART TX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PD1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PORTD.1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USB-Serial RX pin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Transmit data to computer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351899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Reset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RESET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RESET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R3(10KΩ)→VCC,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Button→GND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Active LOW system reset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895751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Power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VCC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VCC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POWER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+5V Supply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Main power supply 5V DC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36073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Ground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POWER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Common Ground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System ground reference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933059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Analog Power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AVCC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AVCC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POWER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+5V Supply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Analog section power supply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504243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Crystal 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XTAL1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XTAL1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8MHz Crystal + 22pF Cap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Clock input pin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010413"/>
                  </a:ext>
                </a:extLst>
              </a:tr>
              <a:tr h="3179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Crystal 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XTAL2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XTAL2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OUTPUT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8MHz Crystal + 22pF Cap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Clock output pin</a:t>
                      </a:r>
                    </a:p>
                  </a:txBody>
                  <a:tcPr marL="5887" marR="5887" marT="58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4590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586958"/>
          </a:xfrm>
        </p:spPr>
        <p:txBody>
          <a:bodyPr/>
          <a:lstStyle/>
          <a:p>
            <a:r>
              <a:rPr dirty="0" err="1"/>
              <a:t>K</a:t>
            </a:r>
            <a:r>
              <a:rPr lang="en-US" dirty="0" err="1"/>
              <a:t>i</a:t>
            </a:r>
            <a:r>
              <a:rPr dirty="0" err="1"/>
              <a:t>Cad</a:t>
            </a:r>
            <a:r>
              <a:rPr dirty="0"/>
              <a:t> Schematic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ECF29E-8043-D8B5-B96B-E154F4960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895" y="1391479"/>
            <a:ext cx="8130209" cy="4513884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23206-91E9-BF64-F980-90C9D468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1"/>
            <a:ext cx="6571343" cy="567080"/>
          </a:xfrm>
        </p:spPr>
        <p:txBody>
          <a:bodyPr/>
          <a:lstStyle/>
          <a:p>
            <a:r>
              <a:rPr lang="en-US" dirty="0" err="1"/>
              <a:t>KiCad</a:t>
            </a:r>
            <a:r>
              <a:rPr lang="en-US" dirty="0"/>
              <a:t> ERC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FCFACF-24AE-9813-AF6C-8EA0113D9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677" y="1853756"/>
            <a:ext cx="7991061" cy="4199724"/>
          </a:xfrm>
        </p:spPr>
      </p:pic>
    </p:spTree>
    <p:extLst>
      <p:ext uri="{BB962C8B-B14F-4D97-AF65-F5344CB8AC3E}">
        <p14:creationId xmlns:p14="http://schemas.microsoft.com/office/powerpoint/2010/main" val="270310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Firmware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  <a:defRPr sz="2200"/>
            </a:pPr>
            <a:r>
              <a:rPr sz="2800" dirty="0"/>
              <a:t>Modules:</a:t>
            </a:r>
          </a:p>
          <a:p>
            <a:pPr>
              <a:defRPr sz="2200"/>
            </a:pPr>
            <a:r>
              <a:rPr sz="2800" dirty="0"/>
              <a:t>GPIO</a:t>
            </a:r>
          </a:p>
          <a:p>
            <a:pPr>
              <a:defRPr sz="2200"/>
            </a:pPr>
            <a:r>
              <a:rPr sz="2800" dirty="0"/>
              <a:t>USART</a:t>
            </a:r>
          </a:p>
          <a:p>
            <a:pPr>
              <a:defRPr sz="2200"/>
            </a:pPr>
            <a:r>
              <a:rPr sz="2800" dirty="0"/>
              <a:t>Commands</a:t>
            </a:r>
          </a:p>
          <a:p>
            <a:pPr>
              <a:defRPr sz="2200"/>
            </a:pPr>
            <a:r>
              <a:rPr sz="2800" dirty="0"/>
              <a:t>Main</a:t>
            </a:r>
          </a:p>
          <a:p>
            <a:pPr>
              <a:defRPr sz="2200"/>
            </a:pPr>
            <a:r>
              <a:rPr sz="2800" dirty="0"/>
              <a:t>LED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USART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Clock: 8 MHz</a:t>
            </a:r>
          </a:p>
          <a:p>
            <a:pPr>
              <a:defRPr sz="2200"/>
            </a:pPr>
            <a:r>
              <a:rPr sz="2800" dirty="0"/>
              <a:t>Baud: 9600</a:t>
            </a:r>
          </a:p>
          <a:p>
            <a:pPr>
              <a:defRPr sz="2200"/>
            </a:pPr>
            <a:r>
              <a:rPr sz="2800" dirty="0"/>
              <a:t>Frame: 8N1</a:t>
            </a:r>
          </a:p>
          <a:p>
            <a:pPr>
              <a:defRPr sz="2200"/>
            </a:pPr>
            <a:r>
              <a:rPr sz="2800" dirty="0"/>
              <a:t>TX/RX enabled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Command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sz="2800" dirty="0"/>
              <a:t>Supported commands:</a:t>
            </a:r>
          </a:p>
          <a:p>
            <a:pPr>
              <a:defRPr sz="2200"/>
            </a:pPr>
            <a:r>
              <a:rPr sz="2800" dirty="0"/>
              <a:t>STATUS</a:t>
            </a:r>
          </a:p>
          <a:p>
            <a:pPr>
              <a:defRPr sz="2200"/>
            </a:pPr>
            <a:r>
              <a:rPr sz="2800" dirty="0"/>
              <a:t>HELLO</a:t>
            </a:r>
          </a:p>
          <a:p>
            <a:pPr>
              <a:defRPr sz="2200"/>
            </a:pPr>
            <a:r>
              <a:rPr sz="2800" dirty="0"/>
              <a:t>Unknown command - INVALID COMMAND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1DFB-B90A-93D7-13A4-3DE27289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A1F11-DEF5-87F1-6BD8-5A66F2286C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923393"/>
            <a:ext cx="4038600" cy="306984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0C81D1-14B6-D520-ED6E-39C4C2DDC4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1923393"/>
            <a:ext cx="4038600" cy="306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02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PCB Layout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CB3530-052C-AECD-3E74-27BFAA59E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210" y="2016125"/>
            <a:ext cx="6219579" cy="4037355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363B-D246-BB8E-CAF9-74F2D4CA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DRC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130371-A8E2-DF93-7A69-F3553E814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390" y="2016125"/>
            <a:ext cx="6483543" cy="4037355"/>
          </a:xfrm>
        </p:spPr>
      </p:pic>
    </p:spTree>
    <p:extLst>
      <p:ext uri="{BB962C8B-B14F-4D97-AF65-F5344CB8AC3E}">
        <p14:creationId xmlns:p14="http://schemas.microsoft.com/office/powerpoint/2010/main" val="2820585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239E5-507D-19CA-308F-D398B040F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Verification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9DFDBB9-C8BF-95FA-E4C9-D84058C47C3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44826" y="2290211"/>
            <a:ext cx="3723999" cy="3613632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3B80FE6-68BE-8443-2314-FFF34F71CE6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889500" y="2290963"/>
            <a:ext cx="3519004" cy="3612880"/>
          </a:xfrm>
        </p:spPr>
      </p:pic>
    </p:spTree>
    <p:extLst>
      <p:ext uri="{BB962C8B-B14F-4D97-AF65-F5344CB8AC3E}">
        <p14:creationId xmlns:p14="http://schemas.microsoft.com/office/powerpoint/2010/main" val="962354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Gerber Generation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907347-6CA3-81B2-4419-5205748F4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472" y="2016125"/>
            <a:ext cx="5899381" cy="34496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153</TotalTime>
  <Words>385</Words>
  <Application>Microsoft Office PowerPoint</Application>
  <PresentationFormat>On-screen Show (4:3)</PresentationFormat>
  <Paragraphs>129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ATmega32 USART Serial Data Monitoring System</vt:lpstr>
      <vt:lpstr>Introduction</vt:lpstr>
      <vt:lpstr>Project Objectives</vt:lpstr>
      <vt:lpstr>System Requirements</vt:lpstr>
      <vt:lpstr>Hardware Components</vt:lpstr>
      <vt:lpstr>ATmega32 Pin Mapping</vt:lpstr>
      <vt:lpstr>KiCad Schematic Design</vt:lpstr>
      <vt:lpstr>KiCad ERC Results</vt:lpstr>
      <vt:lpstr>Firmware Architecture</vt:lpstr>
      <vt:lpstr>USART Configuration</vt:lpstr>
      <vt:lpstr>Command Processing</vt:lpstr>
      <vt:lpstr>Simulation Results</vt:lpstr>
      <vt:lpstr>PCB Layout Design</vt:lpstr>
      <vt:lpstr>PCB DRC Results</vt:lpstr>
      <vt:lpstr>PCB Verification</vt:lpstr>
      <vt:lpstr>Gerber Generation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Nasania Msengi</dc:creator>
  <cp:keywords/>
  <cp:lastModifiedBy>Stephen Samwel</cp:lastModifiedBy>
  <cp:revision>22</cp:revision>
  <dcterms:created xsi:type="dcterms:W3CDTF">2013-01-27T09:14:16Z</dcterms:created>
  <dcterms:modified xsi:type="dcterms:W3CDTF">2026-07-02T05:32:09Z</dcterms:modified>
  <cp:category/>
</cp:coreProperties>
</file>